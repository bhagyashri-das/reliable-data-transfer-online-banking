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3" r:id="rId2"/>
    <p:sldId id="258" r:id="rId3"/>
    <p:sldId id="259" r:id="rId4"/>
    <p:sldId id="262" r:id="rId5"/>
    <p:sldId id="263" r:id="rId6"/>
    <p:sldId id="274" r:id="rId7"/>
    <p:sldId id="264" r:id="rId8"/>
    <p:sldId id="265" r:id="rId9"/>
    <p:sldId id="266" r:id="rId10"/>
    <p:sldId id="267" r:id="rId11"/>
    <p:sldId id="268" r:id="rId12"/>
    <p:sldId id="269" r:id="rId13"/>
    <p:sldId id="271" r:id="rId14"/>
    <p:sldId id="27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7" d="100"/>
          <a:sy n="47" d="100"/>
        </p:scale>
        <p:origin x="1046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CA34A-B381-93C3-F021-B4355A279A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6010CB-4C95-FF74-0DE9-C49661315B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7D9EB4-7C72-2EDB-F63C-EF56B9EE0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760B3-F837-416B-A79E-CFAF12C172CE}" type="datetimeFigureOut">
              <a:rPr lang="en-IN" smtClean="0"/>
              <a:t>26-09-2026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B55EE9-9070-1D21-A96E-EBE2226BC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367FAD-B89D-D4FE-FC10-D22685EEC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622B1-CBE1-4121-8A47-F13D7EE163F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04900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06F78-4E67-FB21-B366-7FEF46D0C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A13667-91AA-DBEA-8F22-C7E8032796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11717A-EBE3-4944-472E-48B3CDD4D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760B3-F837-416B-A79E-CFAF12C172CE}" type="datetimeFigureOut">
              <a:rPr lang="en-IN" smtClean="0"/>
              <a:t>26-09-2026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DBEB04-81B5-579E-624E-E432C9956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670AD4-DBA0-0B24-E51E-9D21810BD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622B1-CBE1-4121-8A47-F13D7EE163F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721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A7714-350B-7918-32CD-B4892983C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4DF290-83FB-A2D4-B7CF-92D3382859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80BEB9-C740-5D65-F985-43ED00C38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760B3-F837-416B-A79E-CFAF12C172CE}" type="datetimeFigureOut">
              <a:rPr lang="en-IN" smtClean="0"/>
              <a:t>26-09-2026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01ABEB-A78A-832C-7B55-E2173F80C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48ECA-350B-8BE1-9AC5-6407DFFEC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622B1-CBE1-4121-8A47-F13D7EE163F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6836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EE6C9-393C-A17E-070A-770A73C3F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F63898-CF7D-11A7-2852-80301A317A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E10018-3F55-3BA8-B275-1192A1C9A4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82854B-D873-BD6B-A756-B85173EC0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760B3-F837-416B-A79E-CFAF12C172CE}" type="datetimeFigureOut">
              <a:rPr lang="en-IN" smtClean="0"/>
              <a:t>26-09-2026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FD5BA7-1674-AA43-B492-18CD16468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16D98C-FA15-D5A9-4C1F-6C629EDF7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622B1-CBE1-4121-8A47-F13D7EE163F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8482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EEABF-A573-8E07-CBAD-A8D6970FE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E8BB22-FE8E-463B-CE64-29C78D3DB4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9D0204-853E-138F-1E8D-82CA208ABC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365F38-A0C3-6B09-D304-150ADC81E9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CB2194-0ED8-5FA6-064F-BC61A37581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B40133-8384-D129-2698-EEB3B2810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760B3-F837-416B-A79E-CFAF12C172CE}" type="datetimeFigureOut">
              <a:rPr lang="en-IN" smtClean="0"/>
              <a:t>26-09-2026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DD731D-0D0B-69BA-48DA-436ED1A18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78B311-6CC0-BE4D-B6AA-09351D50F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622B1-CBE1-4121-8A47-F13D7EE163F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88377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16734-D6F6-D2DE-1E4B-6CC323C18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ACC1CD-9C76-E04C-3F88-0C6F295D4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760B3-F837-416B-A79E-CFAF12C172CE}" type="datetimeFigureOut">
              <a:rPr lang="en-IN" smtClean="0"/>
              <a:t>26-09-2026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34BAC8-B233-A603-0DE9-7F62A0F12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C9AB9F-3CAD-1661-23A9-076B3510B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622B1-CBE1-4121-8A47-F13D7EE163F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24036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9CDB1A-88FE-AB51-454D-F49D028A5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760B3-F837-416B-A79E-CFAF12C172CE}" type="datetimeFigureOut">
              <a:rPr lang="en-IN" smtClean="0"/>
              <a:t>26-09-2026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6C6149-1547-AD47-8B97-477A60F70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6247E5-F6FB-65C1-C407-2D15116E6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622B1-CBE1-4121-8A47-F13D7EE163F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7120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00C88-2206-B8D6-2BF3-0BBB1DAD9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CDEF0C-606B-8A7F-335C-DBCD3727C3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708BBE-6D33-F791-4898-CAD324142C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300C8D-4977-1F53-FF85-105AE0B55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760B3-F837-416B-A79E-CFAF12C172CE}" type="datetimeFigureOut">
              <a:rPr lang="en-IN" smtClean="0"/>
              <a:t>26-09-2026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7476DE-066B-2B39-64AB-406679288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D5F983-061E-B363-3455-559095844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622B1-CBE1-4121-8A47-F13D7EE163F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546645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EEEA4-61A8-6A36-9039-A6A7BBA1B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6E44FE-09BA-AE5E-6079-4168C972FD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4794FF-3822-D29D-2969-BD3D5094ED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5B863A-9669-001A-9CBC-0D8DD7887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760B3-F837-416B-A79E-CFAF12C172CE}" type="datetimeFigureOut">
              <a:rPr lang="en-IN" smtClean="0"/>
              <a:t>26-09-2026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43DF98-D571-EC34-FBEF-61C60E920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913E64-C5D9-FF1D-9449-6EA13923D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622B1-CBE1-4121-8A47-F13D7EE163F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0203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DEEFE-91AE-57D6-B6AA-65B36897D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10A6B0-1222-4391-8B32-8D788888C8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8A5A2D-1385-C4D4-8FFF-BE4458492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760B3-F837-416B-A79E-CFAF12C172CE}" type="datetimeFigureOut">
              <a:rPr lang="en-IN" smtClean="0"/>
              <a:t>26-09-2026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72ABAC-72AC-3C5E-A1C8-9AB8CBE08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48C0D1-B567-2449-57E4-D8FDC42AC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622B1-CBE1-4121-8A47-F13D7EE163F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35759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609245-2EE5-729B-5EDC-DDE476F5B4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03918-1E55-A679-DD4C-869D20806C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7E23DB-D5C1-F98F-14FF-1CCEB0A61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760B3-F837-416B-A79E-CFAF12C172CE}" type="datetimeFigureOut">
              <a:rPr lang="en-IN" smtClean="0"/>
              <a:t>26-09-2026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F55AA9-4746-ADA5-6CB3-38D286A39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001D0D-A17F-5F46-436D-841C55B2C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622B1-CBE1-4121-8A47-F13D7EE163F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4581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21DC8E-B52B-D69A-8600-EECD8A3EA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A43AEA-EB5A-F66C-81E0-DBAE5E1A2B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C2AF7C-C641-2FB1-17D9-5466E8DA39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A760B3-F837-416B-A79E-CFAF12C172CE}" type="datetimeFigureOut">
              <a:rPr lang="en-IN" smtClean="0"/>
              <a:t>26-09-2026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EBDB70-A21F-73F9-7964-3E1CAB8FEA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456A52-3BA4-F739-EF52-05E23465DF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2622B1-CBE1-4121-8A47-F13D7EE163F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4371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30297BF-DFCE-42AC-04B5-47F4200D5271}"/>
              </a:ext>
            </a:extLst>
          </p:cNvPr>
          <p:cNvSpPr txBox="1"/>
          <p:nvPr/>
        </p:nvSpPr>
        <p:spPr>
          <a:xfrm>
            <a:off x="1692441" y="551234"/>
            <a:ext cx="8807116" cy="1118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005"/>
              </a:lnSpc>
            </a:pPr>
            <a:r>
              <a:rPr lang="en-US" sz="4005" b="1" dirty="0">
                <a:solidFill>
                  <a:srgbClr val="000000"/>
                </a:solidFill>
                <a:latin typeface="Times New Roman" panose="02020603050405020304" pitchFamily="18" charset="0"/>
                <a:ea typeface="Proxima Nova Bold"/>
                <a:cs typeface="Times New Roman" panose="02020603050405020304" pitchFamily="18" charset="0"/>
                <a:sym typeface="Proxima Nova Bold"/>
              </a:rPr>
              <a:t>RELIABLE  DATA  TRANSFER SYSTEM  FOR  ONLINE  BANKING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815102-420D-BC62-7166-443E13216B8C}"/>
              </a:ext>
            </a:extLst>
          </p:cNvPr>
          <p:cNvSpPr txBox="1"/>
          <p:nvPr/>
        </p:nvSpPr>
        <p:spPr>
          <a:xfrm>
            <a:off x="27167" y="4105347"/>
            <a:ext cx="12137665" cy="20696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3600" dirty="0">
                <a:solidFill>
                  <a:srgbClr val="0B1320"/>
                </a:solidFill>
                <a:latin typeface="Times New Roman" panose="02020603050405020304" pitchFamily="18" charset="0"/>
                <a:ea typeface="Proxima Nova"/>
                <a:cs typeface="Times New Roman" panose="02020603050405020304" pitchFamily="18" charset="0"/>
                <a:sym typeface="Proxima Nova"/>
              </a:rPr>
              <a:t>Presented by </a:t>
            </a:r>
          </a:p>
          <a:p>
            <a:pPr algn="ctr">
              <a:lnSpc>
                <a:spcPts val="2639"/>
              </a:lnSpc>
            </a:pPr>
            <a:endParaRPr lang="en-US" sz="3600" dirty="0">
              <a:solidFill>
                <a:srgbClr val="0B132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algn="ctr">
              <a:lnSpc>
                <a:spcPts val="2639"/>
              </a:lnSpc>
            </a:pPr>
            <a:r>
              <a:rPr lang="en-US" sz="2000" dirty="0">
                <a:solidFill>
                  <a:srgbClr val="0B1320"/>
                </a:solidFill>
                <a:latin typeface="Times New Roman" panose="02020603050405020304" pitchFamily="18" charset="0"/>
                <a:ea typeface="Proxima Nova"/>
                <a:cs typeface="Times New Roman" panose="02020603050405020304" pitchFamily="18" charset="0"/>
                <a:sym typeface="Proxima Nova"/>
              </a:rPr>
              <a:t>Bhagyashree Das (BWU/BTD/24/063)</a:t>
            </a:r>
          </a:p>
          <a:p>
            <a:pPr algn="ctr">
              <a:lnSpc>
                <a:spcPts val="2639"/>
              </a:lnSpc>
            </a:pPr>
            <a:r>
              <a:rPr lang="en-US" sz="2000" dirty="0">
                <a:solidFill>
                  <a:srgbClr val="0B1320"/>
                </a:solidFill>
                <a:latin typeface="Times New Roman" panose="02020603050405020304" pitchFamily="18" charset="0"/>
                <a:ea typeface="Proxima Nova"/>
                <a:cs typeface="Times New Roman" panose="02020603050405020304" pitchFamily="18" charset="0"/>
                <a:sym typeface="Proxima Nova"/>
              </a:rPr>
              <a:t>Krishanu Das (BWU/BTD/24/137)</a:t>
            </a:r>
          </a:p>
          <a:p>
            <a:pPr algn="ctr">
              <a:lnSpc>
                <a:spcPts val="2639"/>
              </a:lnSpc>
            </a:pPr>
            <a:r>
              <a:rPr lang="en-US" sz="2000" dirty="0">
                <a:solidFill>
                  <a:srgbClr val="0B1320"/>
                </a:solidFill>
                <a:latin typeface="Times New Roman" panose="02020603050405020304" pitchFamily="18" charset="0"/>
                <a:ea typeface="Proxima Nova"/>
                <a:cs typeface="Times New Roman" panose="02020603050405020304" pitchFamily="18" charset="0"/>
                <a:sym typeface="Proxima Nova"/>
              </a:rPr>
              <a:t>Debraj Mondal (BWU/BTD/24/139)</a:t>
            </a:r>
          </a:p>
          <a:p>
            <a:pPr algn="ctr">
              <a:lnSpc>
                <a:spcPts val="2639"/>
              </a:lnSpc>
            </a:pPr>
            <a:r>
              <a:rPr lang="en-US" sz="2000" dirty="0">
                <a:solidFill>
                  <a:srgbClr val="0B1320"/>
                </a:solidFill>
                <a:latin typeface="Times New Roman" panose="02020603050405020304" pitchFamily="18" charset="0"/>
                <a:ea typeface="Proxima Nova"/>
                <a:cs typeface="Times New Roman" panose="02020603050405020304" pitchFamily="18" charset="0"/>
                <a:sym typeface="Proxima Nova"/>
              </a:rPr>
              <a:t>Sayantan Paul (BWU/BTD</a:t>
            </a:r>
            <a:r>
              <a:rPr lang="en-US" sz="2000">
                <a:solidFill>
                  <a:srgbClr val="0B1320"/>
                </a:solidFill>
                <a:latin typeface="Times New Roman" panose="02020603050405020304" pitchFamily="18" charset="0"/>
                <a:ea typeface="Proxima Nova"/>
                <a:cs typeface="Times New Roman" panose="02020603050405020304" pitchFamily="18" charset="0"/>
                <a:sym typeface="Proxima Nova"/>
              </a:rPr>
              <a:t>/24/144)</a:t>
            </a:r>
            <a:endParaRPr lang="en-US" sz="2000" dirty="0">
              <a:solidFill>
                <a:srgbClr val="0B1320"/>
              </a:solidFill>
              <a:latin typeface="Times New Roman" panose="02020603050405020304" pitchFamily="18" charset="0"/>
              <a:ea typeface="Proxima Nova"/>
              <a:cs typeface="Times New Roman" panose="02020603050405020304" pitchFamily="18" charset="0"/>
              <a:sym typeface="Proxima Nov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156167-C845-4C5B-F2BC-41AEDB271997}"/>
              </a:ext>
            </a:extLst>
          </p:cNvPr>
          <p:cNvSpPr txBox="1"/>
          <p:nvPr/>
        </p:nvSpPr>
        <p:spPr>
          <a:xfrm>
            <a:off x="3215275" y="2341202"/>
            <a:ext cx="6189406" cy="626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Course Name : Computer Networks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132FCA-D4FC-FF53-A79A-22F147195EF8}"/>
              </a:ext>
            </a:extLst>
          </p:cNvPr>
          <p:cNvSpPr txBox="1"/>
          <p:nvPr/>
        </p:nvSpPr>
        <p:spPr>
          <a:xfrm>
            <a:off x="2145567" y="3009752"/>
            <a:ext cx="818289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1000"/>
              </a:spcBef>
              <a:buNone/>
            </a:pPr>
            <a:r>
              <a:rPr lang="en-IN" sz="2400" i="0" u="none" strike="noStrike" dirty="0">
                <a:solidFill>
                  <a:schemeClr val="tx1"/>
                </a:solidFill>
                <a:effectLst/>
                <a:latin typeface="+mn-lt"/>
              </a:rPr>
              <a:t>Department Name </a:t>
            </a:r>
            <a:r>
              <a:rPr lang="en-IN" sz="2400" b="1" i="0" u="none" strike="noStrike" dirty="0">
                <a:solidFill>
                  <a:schemeClr val="tx1"/>
                </a:solidFill>
                <a:effectLst/>
                <a:latin typeface="+mn-lt"/>
              </a:rPr>
              <a:t>:</a:t>
            </a:r>
            <a:r>
              <a:rPr lang="en-IN" sz="2400" b="0" i="0" u="none" strike="noStrike" dirty="0">
                <a:solidFill>
                  <a:schemeClr val="tx1"/>
                </a:solidFill>
                <a:effectLst/>
                <a:latin typeface="+mn-lt"/>
              </a:rPr>
              <a:t> Computer Science &amp; Engineering – CS &amp; DS</a:t>
            </a:r>
            <a:endParaRPr lang="en-IN" sz="2400" b="0" dirty="0">
              <a:effectLst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5DBABB-6F3A-19C7-B102-87E2A7C3DABF}"/>
              </a:ext>
            </a:extLst>
          </p:cNvPr>
          <p:cNvSpPr txBox="1"/>
          <p:nvPr/>
        </p:nvSpPr>
        <p:spPr>
          <a:xfrm>
            <a:off x="2787319" y="1794702"/>
            <a:ext cx="6189406" cy="626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Course Code : BTD50112</a:t>
            </a:r>
          </a:p>
        </p:txBody>
      </p:sp>
      <p:sp>
        <p:nvSpPr>
          <p:cNvPr id="13" name="TextBox 6">
            <a:extLst>
              <a:ext uri="{FF2B5EF4-FFF2-40B4-BE49-F238E27FC236}">
                <a16:creationId xmlns:a16="http://schemas.microsoft.com/office/drawing/2014/main" id="{3DCC046F-CF22-05F9-DCA0-E7CA1AA02B1D}"/>
              </a:ext>
            </a:extLst>
          </p:cNvPr>
          <p:cNvSpPr txBox="1"/>
          <p:nvPr/>
        </p:nvSpPr>
        <p:spPr>
          <a:xfrm>
            <a:off x="11300658" y="1086268"/>
            <a:ext cx="703988" cy="3385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1100" b="1" dirty="0">
                <a:solidFill>
                  <a:srgbClr val="0B132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Brainware University</a:t>
            </a:r>
          </a:p>
        </p:txBody>
      </p:sp>
      <p:pic>
        <p:nvPicPr>
          <p:cNvPr id="15" name="Picture 14" descr="STUDENTS' PORTAL / Website">
            <a:extLst>
              <a:ext uri="{FF2B5EF4-FFF2-40B4-BE49-F238E27FC236}">
                <a16:creationId xmlns:a16="http://schemas.microsoft.com/office/drawing/2014/main" id="{F0AB9D7E-7CF0-C20F-5722-AF13662A73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8308" y="195175"/>
            <a:ext cx="786338" cy="786338"/>
          </a:xfrm>
          <a:prstGeom prst="ellipse">
            <a:avLst/>
          </a:prstGeom>
          <a:ln w="63500" cap="rnd">
            <a:solidFill>
              <a:schemeClr val="bg2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26449418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2769FC7-1EB8-4749-066E-C7C3633FF093}"/>
              </a:ext>
            </a:extLst>
          </p:cNvPr>
          <p:cNvSpPr txBox="1"/>
          <p:nvPr/>
        </p:nvSpPr>
        <p:spPr>
          <a:xfrm>
            <a:off x="777783" y="862938"/>
            <a:ext cx="60960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E465F"/>
                </a:solidFill>
                <a:latin typeface="Aptos"/>
              </a:defRPr>
            </a:pPr>
            <a:r>
              <a:rPr lang="en-IN" sz="2700" dirty="0"/>
              <a:t> </a:t>
            </a:r>
            <a:r>
              <a:rPr lang="en-IN" sz="2700" u="heavy" dirty="0"/>
              <a:t>Objective 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25DAC0-150C-7584-27F4-A7EC13D16ABE}"/>
              </a:ext>
            </a:extLst>
          </p:cNvPr>
          <p:cNvSpPr txBox="1"/>
          <p:nvPr/>
        </p:nvSpPr>
        <p:spPr>
          <a:xfrm>
            <a:off x="777783" y="2231236"/>
            <a:ext cx="8867144" cy="23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latin typeface="Aptos"/>
              </a:defRPr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 client-server banking network using Cisco Packet Tracer.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latin typeface="Aptos"/>
              </a:defRPr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CRC (Cyclic Redundancy Check) to detect transmission errors.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latin typeface="Aptos"/>
              </a:defRPr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 receiver-side detection of a corrupted frame.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latin typeface="Aptos"/>
              </a:defRPr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Recalculate and verify CRC at the receiver.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latin typeface="Aptos"/>
              </a:defRPr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Decide whether the frame is ACCEPTED or REJECTED.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latin typeface="Aptos"/>
              </a:defRPr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 retransmission/error-control as the recovery mechanism.</a:t>
            </a:r>
          </a:p>
        </p:txBody>
      </p:sp>
      <p:pic>
        <p:nvPicPr>
          <p:cNvPr id="9" name="Picture 8" descr="STUDENTS' PORTAL / Website">
            <a:extLst>
              <a:ext uri="{FF2B5EF4-FFF2-40B4-BE49-F238E27FC236}">
                <a16:creationId xmlns:a16="http://schemas.microsoft.com/office/drawing/2014/main" id="{CFF49B27-77FA-F99D-4C0F-E47E294701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8308" y="195175"/>
            <a:ext cx="786338" cy="786338"/>
          </a:xfrm>
          <a:prstGeom prst="ellipse">
            <a:avLst/>
          </a:prstGeom>
          <a:ln w="63500" cap="rnd">
            <a:solidFill>
              <a:schemeClr val="bg2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26535648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21FB2A6-8B12-1BE7-23BD-B61F553F120B}"/>
              </a:ext>
            </a:extLst>
          </p:cNvPr>
          <p:cNvSpPr txBox="1"/>
          <p:nvPr/>
        </p:nvSpPr>
        <p:spPr>
          <a:xfrm>
            <a:off x="689810" y="804864"/>
            <a:ext cx="60960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E465F"/>
                </a:solidFill>
                <a:latin typeface="Aptos"/>
              </a:defRPr>
            </a:pPr>
            <a:r>
              <a:rPr lang="en-IN" sz="2700" dirty="0"/>
              <a:t>    </a:t>
            </a:r>
            <a:r>
              <a:rPr lang="en-IN" sz="2700" u="sng" dirty="0"/>
              <a:t>Real-Life Connection 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94351E-ABF3-3A9B-14EA-785A9FEE871B}"/>
              </a:ext>
            </a:extLst>
          </p:cNvPr>
          <p:cNvSpPr txBox="1"/>
          <p:nvPr/>
        </p:nvSpPr>
        <p:spPr>
          <a:xfrm>
            <a:off x="922680" y="1872058"/>
            <a:ext cx="8197515" cy="2672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latin typeface="Aptos"/>
              </a:defRPr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banking transactions require accurate delivery of transaction data.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latin typeface="Aptos"/>
              </a:defRPr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changed bit can alter the meaning of transmitted information.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latin typeface="Aptos"/>
              </a:defRPr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CRC provides error detection by calculating a remainder at the sender and receiver.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latin typeface="Aptos"/>
              </a:defRPr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CRC detects an error; it does not itself correct the corrupted data.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latin typeface="Aptos"/>
              </a:defRPr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ARQ/retransmission can be used to recover from a rejected frame.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latin typeface="Aptos"/>
              </a:defRPr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Encryption and authentication are future security enhancements in this academic model.</a:t>
            </a:r>
          </a:p>
        </p:txBody>
      </p:sp>
      <p:pic>
        <p:nvPicPr>
          <p:cNvPr id="12" name="Picture 11" descr="STUDENTS' PORTAL / Website">
            <a:extLst>
              <a:ext uri="{FF2B5EF4-FFF2-40B4-BE49-F238E27FC236}">
                <a16:creationId xmlns:a16="http://schemas.microsoft.com/office/drawing/2014/main" id="{938D2D80-C396-A99B-5A15-31E7B674BA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8308" y="195175"/>
            <a:ext cx="786338" cy="786338"/>
          </a:xfrm>
          <a:prstGeom prst="ellipse">
            <a:avLst/>
          </a:prstGeom>
          <a:ln w="63500" cap="rnd">
            <a:solidFill>
              <a:schemeClr val="bg2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6002265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6263831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E465F"/>
                </a:solidFill>
                <a:latin typeface="Aptos"/>
              </a:defRPr>
            </a:pPr>
            <a:r>
              <a:rPr lang="en-IN" dirty="0"/>
              <a:t>    </a:t>
            </a:r>
            <a:r>
              <a:rPr u="sng" dirty="0"/>
              <a:t>System Model – Cisco Packet Tracer</a:t>
            </a:r>
            <a:r>
              <a:rPr lang="en-IN" u="sng" dirty="0"/>
              <a:t> :</a:t>
            </a:r>
            <a:endParaRPr u="sng" dirty="0"/>
          </a:p>
        </p:txBody>
      </p:sp>
      <p:pic>
        <p:nvPicPr>
          <p:cNvPr id="4" name="Picture 3" descr="e6eef89b-dfe9-40e2-b158-ee426e8c6147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841" y="884990"/>
            <a:ext cx="10000957" cy="5625538"/>
          </a:xfrm>
          <a:prstGeom prst="rect">
            <a:avLst/>
          </a:prstGeom>
        </p:spPr>
      </p:pic>
      <p:pic>
        <p:nvPicPr>
          <p:cNvPr id="7" name="Picture 6" descr="STUDENTS' PORTAL / Website">
            <a:extLst>
              <a:ext uri="{FF2B5EF4-FFF2-40B4-BE49-F238E27FC236}">
                <a16:creationId xmlns:a16="http://schemas.microsoft.com/office/drawing/2014/main" id="{7189C5BC-5721-7C5E-17C3-5696523BA0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8308" y="195175"/>
            <a:ext cx="786338" cy="786338"/>
          </a:xfrm>
          <a:prstGeom prst="ellipse">
            <a:avLst/>
          </a:prstGeom>
          <a:ln w="63500" cap="rnd">
            <a:solidFill>
              <a:schemeClr val="bg2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2505109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E465F"/>
                </a:solidFill>
                <a:latin typeface="Aptos"/>
              </a:defRPr>
            </a:pPr>
            <a:r>
              <a:rPr u="sng" dirty="0"/>
              <a:t>IP Addressing</a:t>
            </a:r>
            <a:r>
              <a:rPr lang="en-IN" u="sng" dirty="0"/>
              <a:t> :</a:t>
            </a:r>
            <a:endParaRPr u="sng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097280"/>
          <a:ext cx="11384280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68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68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68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76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768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7492">
                <a:tc>
                  <a:txBody>
                    <a:bodyPr/>
                    <a:lstStyle/>
                    <a:p>
                      <a:pPr>
                        <a:defRPr sz="1000" b="1">
                          <a:latin typeface="Aptos"/>
                        </a:defRPr>
                      </a:pPr>
                      <a:r>
                        <a:rPr dirty="0"/>
                        <a:t>Device</a:t>
                      </a:r>
                    </a:p>
                  </a:txBody>
                  <a:tcPr marL="45720" marR="45720">
                    <a:solidFill>
                      <a:srgbClr val="BEDC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latin typeface="Aptos"/>
                        </a:defRPr>
                      </a:pPr>
                      <a:r>
                        <a:rPr dirty="0"/>
                        <a:t>Interface</a:t>
                      </a:r>
                    </a:p>
                  </a:txBody>
                  <a:tcPr marL="45720" marR="45720">
                    <a:solidFill>
                      <a:srgbClr val="BEDC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latin typeface="Aptos"/>
                        </a:defRPr>
                      </a:pPr>
                      <a:r>
                        <a:rPr dirty="0"/>
                        <a:t>IP</a:t>
                      </a:r>
                    </a:p>
                  </a:txBody>
                  <a:tcPr marL="45720" marR="45720">
                    <a:solidFill>
                      <a:srgbClr val="BEDC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latin typeface="Aptos"/>
                        </a:defRPr>
                      </a:pPr>
                      <a:r>
                        <a:rPr dirty="0"/>
                        <a:t>Mask</a:t>
                      </a:r>
                    </a:p>
                  </a:txBody>
                  <a:tcPr marL="45720" marR="45720">
                    <a:solidFill>
                      <a:srgbClr val="BEDC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latin typeface="Aptos"/>
                        </a:defRPr>
                      </a:pPr>
                      <a:r>
                        <a:rPr dirty="0"/>
                        <a:t>Gateway</a:t>
                      </a:r>
                    </a:p>
                  </a:txBody>
                  <a:tcPr marL="45720" marR="45720">
                    <a:solidFill>
                      <a:srgbClr val="BEDC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7492">
                <a:tc>
                  <a:txBody>
                    <a:bodyPr/>
                    <a:lstStyle/>
                    <a:p>
                      <a:pPr>
                        <a:defRPr sz="1000">
                          <a:latin typeface="Aptos"/>
                        </a:defRPr>
                      </a:pPr>
                      <a:r>
                        <a:rPr dirty="0"/>
                        <a:t>PC0 / Client 1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Aptos"/>
                        </a:defRPr>
                      </a:pPr>
                      <a:r>
                        <a:rPr dirty="0"/>
                        <a:t>FastEthernet0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Aptos"/>
                        </a:defRPr>
                      </a:pPr>
                      <a:r>
                        <a:rPr dirty="0"/>
                        <a:t>192.168.1.1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Aptos"/>
                        </a:defRPr>
                      </a:pPr>
                      <a:r>
                        <a:rPr dirty="0"/>
                        <a:t>255.255.255.0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Aptos"/>
                        </a:defRPr>
                      </a:pPr>
                      <a:r>
                        <a:rPr dirty="0"/>
                        <a:t>192.168.1.5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7492">
                <a:tc>
                  <a:txBody>
                    <a:bodyPr/>
                    <a:lstStyle/>
                    <a:p>
                      <a:pPr>
                        <a:defRPr sz="1000">
                          <a:latin typeface="Aptos"/>
                        </a:defRPr>
                      </a:pPr>
                      <a:r>
                        <a:rPr dirty="0"/>
                        <a:t>PC1 / Client 2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Aptos"/>
                        </a:defRPr>
                      </a:pPr>
                      <a:r>
                        <a:rPr dirty="0"/>
                        <a:t>FastEthernet0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Aptos"/>
                        </a:defRPr>
                      </a:pPr>
                      <a:r>
                        <a:rPr dirty="0"/>
                        <a:t>192.168.1.2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Aptos"/>
                        </a:defRPr>
                      </a:pPr>
                      <a:r>
                        <a:rPr dirty="0"/>
                        <a:t>255.255.255.0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Aptos"/>
                        </a:defRPr>
                      </a:pPr>
                      <a:r>
                        <a:rPr dirty="0"/>
                        <a:t>192.168.1.5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7492">
                <a:tc>
                  <a:txBody>
                    <a:bodyPr/>
                    <a:lstStyle/>
                    <a:p>
                      <a:pPr>
                        <a:defRPr sz="1000">
                          <a:latin typeface="Aptos"/>
                        </a:defRPr>
                      </a:pPr>
                      <a:r>
                        <a:rPr dirty="0"/>
                        <a:t>PC2 / Client 3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Aptos"/>
                        </a:defRPr>
                      </a:pPr>
                      <a:r>
                        <a:rPr dirty="0"/>
                        <a:t>FastEthernet0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Aptos"/>
                        </a:defRPr>
                      </a:pPr>
                      <a:r>
                        <a:rPr dirty="0"/>
                        <a:t>192.168.1.3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Aptos"/>
                        </a:defRPr>
                      </a:pPr>
                      <a:r>
                        <a:rPr dirty="0"/>
                        <a:t>255.255.255.0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Aptos"/>
                        </a:defRPr>
                      </a:pPr>
                      <a:r>
                        <a:rPr dirty="0"/>
                        <a:t>192.168.1.5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7492">
                <a:tc>
                  <a:txBody>
                    <a:bodyPr/>
                    <a:lstStyle/>
                    <a:p>
                      <a:pPr>
                        <a:defRPr sz="1000">
                          <a:latin typeface="Aptos"/>
                        </a:defRPr>
                      </a:pPr>
                      <a:r>
                        <a:rPr dirty="0"/>
                        <a:t>PC3 / Client 4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Aptos"/>
                        </a:defRPr>
                      </a:pPr>
                      <a:r>
                        <a:rPr dirty="0"/>
                        <a:t>FastEthernet0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Aptos"/>
                        </a:defRPr>
                      </a:pPr>
                      <a:r>
                        <a:rPr dirty="0"/>
                        <a:t>192.168.1.4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Aptos"/>
                        </a:defRPr>
                      </a:pPr>
                      <a:r>
                        <a:rPr dirty="0"/>
                        <a:t>255.255.255.0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Aptos"/>
                        </a:defRPr>
                      </a:pPr>
                      <a:r>
                        <a:rPr dirty="0"/>
                        <a:t>192.168.1.5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7492">
                <a:tc>
                  <a:txBody>
                    <a:bodyPr/>
                    <a:lstStyle/>
                    <a:p>
                      <a:pPr>
                        <a:defRPr sz="1000">
                          <a:latin typeface="Aptos"/>
                        </a:defRPr>
                      </a:pPr>
                      <a:r>
                        <a:rPr dirty="0"/>
                        <a:t>Router1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Aptos"/>
                        </a:defRPr>
                      </a:pPr>
                      <a:r>
                        <a:rPr dirty="0"/>
                        <a:t>FastEthernet0/0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Aptos"/>
                        </a:defRPr>
                      </a:pPr>
                      <a:r>
                        <a:rPr dirty="0"/>
                        <a:t>192.168.1.5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Aptos"/>
                        </a:defRPr>
                      </a:pPr>
                      <a:r>
                        <a:rPr dirty="0"/>
                        <a:t>255.255.255.0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Aptos"/>
                        </a:defRPr>
                      </a:pPr>
                      <a:r>
                        <a:rPr dirty="0"/>
                        <a:t>—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7492">
                <a:tc>
                  <a:txBody>
                    <a:bodyPr/>
                    <a:lstStyle/>
                    <a:p>
                      <a:pPr>
                        <a:defRPr sz="1000">
                          <a:latin typeface="Aptos"/>
                        </a:defRPr>
                      </a:pPr>
                      <a:r>
                        <a:rPr dirty="0"/>
                        <a:t>Router1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Aptos"/>
                        </a:defRPr>
                      </a:pPr>
                      <a:r>
                        <a:rPr dirty="0"/>
                        <a:t>Serial2/0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Aptos"/>
                        </a:defRPr>
                      </a:pPr>
                      <a:r>
                        <a:rPr dirty="0"/>
                        <a:t>192.168.2.1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Aptos"/>
                        </a:defRPr>
                      </a:pPr>
                      <a:r>
                        <a:rPr dirty="0"/>
                        <a:t>255.255.255.252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Aptos"/>
                        </a:defRPr>
                      </a:pPr>
                      <a:r>
                        <a:rPr dirty="0"/>
                        <a:t>—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7492">
                <a:tc>
                  <a:txBody>
                    <a:bodyPr/>
                    <a:lstStyle/>
                    <a:p>
                      <a:pPr>
                        <a:defRPr sz="1000">
                          <a:latin typeface="Aptos"/>
                        </a:defRPr>
                      </a:pPr>
                      <a:r>
                        <a:rPr dirty="0"/>
                        <a:t>Router2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Aptos"/>
                        </a:defRPr>
                      </a:pPr>
                      <a:r>
                        <a:rPr dirty="0"/>
                        <a:t>Serial2/0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Aptos"/>
                        </a:defRPr>
                      </a:pPr>
                      <a:r>
                        <a:rPr dirty="0"/>
                        <a:t>192.168.2.2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Aptos"/>
                        </a:defRPr>
                      </a:pPr>
                      <a:r>
                        <a:rPr dirty="0"/>
                        <a:t>255.255.255.252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Aptos"/>
                        </a:defRPr>
                      </a:pPr>
                      <a:r>
                        <a:rPr dirty="0"/>
                        <a:t>—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7492">
                <a:tc>
                  <a:txBody>
                    <a:bodyPr/>
                    <a:lstStyle/>
                    <a:p>
                      <a:pPr>
                        <a:defRPr sz="1000">
                          <a:latin typeface="Aptos"/>
                        </a:defRPr>
                      </a:pPr>
                      <a:r>
                        <a:rPr dirty="0"/>
                        <a:t>Router2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Aptos"/>
                        </a:defRPr>
                      </a:pPr>
                      <a:r>
                        <a:rPr dirty="0"/>
                        <a:t>FastEthernet0/0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Aptos"/>
                        </a:defRPr>
                      </a:pPr>
                      <a:r>
                        <a:rPr dirty="0"/>
                        <a:t>192.168.3.2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Aptos"/>
                        </a:defRPr>
                      </a:pPr>
                      <a:r>
                        <a:rPr dirty="0"/>
                        <a:t>255.255.255.0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Aptos"/>
                        </a:defRPr>
                      </a:pPr>
                      <a:r>
                        <a:rPr dirty="0"/>
                        <a:t>—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07492">
                <a:tc>
                  <a:txBody>
                    <a:bodyPr/>
                    <a:lstStyle/>
                    <a:p>
                      <a:pPr>
                        <a:defRPr sz="1000">
                          <a:latin typeface="Aptos"/>
                        </a:defRPr>
                      </a:pPr>
                      <a:r>
                        <a:rPr dirty="0"/>
                        <a:t>Server0 / Bank Server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Aptos"/>
                        </a:defRPr>
                      </a:pPr>
                      <a:r>
                        <a:rPr dirty="0"/>
                        <a:t>FastEthernet0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Aptos"/>
                        </a:defRPr>
                      </a:pPr>
                      <a:r>
                        <a:rPr dirty="0"/>
                        <a:t>192.168.3.1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Aptos"/>
                        </a:defRPr>
                      </a:pPr>
                      <a:r>
                        <a:rPr dirty="0"/>
                        <a:t>255.255.255.0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Aptos"/>
                        </a:defRPr>
                      </a:pPr>
                      <a:r>
                        <a:rPr dirty="0"/>
                        <a:t>192.168.3.2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pic>
        <p:nvPicPr>
          <p:cNvPr id="7" name="Picture 6" descr="STUDENTS' PORTAL / Website">
            <a:extLst>
              <a:ext uri="{FF2B5EF4-FFF2-40B4-BE49-F238E27FC236}">
                <a16:creationId xmlns:a16="http://schemas.microsoft.com/office/drawing/2014/main" id="{45B1B6E4-9EBF-3645-3C25-AA3BCBF065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8308" y="195175"/>
            <a:ext cx="786338" cy="786338"/>
          </a:xfrm>
          <a:prstGeom prst="ellipse">
            <a:avLst/>
          </a:prstGeom>
          <a:ln w="63500" cap="rnd">
            <a:solidFill>
              <a:schemeClr val="bg2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DF83039-F99C-32AC-2F89-78F5A55B4685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825625"/>
          <a:ext cx="1088136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>
                  <a:extLst>
                    <a:ext uri="{9D8B030D-6E8A-4147-A177-3AD203B41FA5}">
                      <a16:colId xmlns:a16="http://schemas.microsoft.com/office/drawing/2014/main" val="3985935284"/>
                    </a:ext>
                  </a:extLst>
                </a:gridCol>
                <a:gridCol w="3627120">
                  <a:extLst>
                    <a:ext uri="{9D8B030D-6E8A-4147-A177-3AD203B41FA5}">
                      <a16:colId xmlns:a16="http://schemas.microsoft.com/office/drawing/2014/main" val="1172375901"/>
                    </a:ext>
                  </a:extLst>
                </a:gridCol>
                <a:gridCol w="3627120">
                  <a:extLst>
                    <a:ext uri="{9D8B030D-6E8A-4147-A177-3AD203B41FA5}">
                      <a16:colId xmlns:a16="http://schemas.microsoft.com/office/drawing/2014/main" val="239333288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>
                        <a:defRPr sz="1600" b="1">
                          <a:latin typeface="Aptos"/>
                        </a:defRPr>
                      </a:pPr>
                      <a:r>
                        <a:rPr dirty="0"/>
                        <a:t>Network</a:t>
                      </a:r>
                    </a:p>
                  </a:txBody>
                  <a:tcPr marL="45720" marR="45720">
                    <a:solidFill>
                      <a:srgbClr val="BEDC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Aptos"/>
                        </a:defRPr>
                      </a:pPr>
                      <a:r>
                        <a:t>Address</a:t>
                      </a:r>
                    </a:p>
                  </a:txBody>
                  <a:tcPr marL="45720" marR="45720">
                    <a:solidFill>
                      <a:srgbClr val="BEDC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Aptos"/>
                        </a:defRPr>
                      </a:pPr>
                      <a:r>
                        <a:t>Purpose</a:t>
                      </a:r>
                    </a:p>
                  </a:txBody>
                  <a:tcPr marL="45720" marR="45720">
                    <a:solidFill>
                      <a:srgbClr val="BEDC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758315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600">
                          <a:latin typeface="Aptos"/>
                        </a:defRPr>
                      </a:pPr>
                      <a:r>
                        <a:rPr dirty="0"/>
                        <a:t>Client LAN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latin typeface="Aptos"/>
                        </a:defRPr>
                      </a:pPr>
                      <a:r>
                        <a:t>192.168.1.0/24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latin typeface="Aptos"/>
                        </a:defRPr>
                      </a:pPr>
                      <a:r>
                        <a:t>PC0–PC3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607073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600">
                          <a:latin typeface="Aptos"/>
                        </a:defRPr>
                      </a:pPr>
                      <a:r>
                        <a:t>R1–R2 Serial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latin typeface="Aptos"/>
                        </a:defRPr>
                      </a:pPr>
                      <a:r>
                        <a:rPr dirty="0"/>
                        <a:t>192.168.2.0/30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latin typeface="Aptos"/>
                        </a:defRPr>
                      </a:pPr>
                      <a:r>
                        <a:t>Point-to-point router link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760964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600">
                          <a:latin typeface="Aptos"/>
                        </a:defRPr>
                      </a:pPr>
                      <a:r>
                        <a:t>Bank Server LAN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latin typeface="Aptos"/>
                        </a:defRPr>
                      </a:pPr>
                      <a:r>
                        <a:rPr dirty="0"/>
                        <a:t>192.168.3.0/24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latin typeface="Aptos"/>
                        </a:defRPr>
                      </a:pPr>
                      <a:r>
                        <a:rPr dirty="0"/>
                        <a:t>Bank server network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9699607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5A6FC6B8-1C0A-7F81-74FD-7868E70A4041}"/>
              </a:ext>
            </a:extLst>
          </p:cNvPr>
          <p:cNvSpPr txBox="1"/>
          <p:nvPr/>
        </p:nvSpPr>
        <p:spPr>
          <a:xfrm>
            <a:off x="838200" y="901116"/>
            <a:ext cx="60960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E465F"/>
                </a:solidFill>
                <a:latin typeface="Aptos"/>
              </a:defRPr>
            </a:pPr>
            <a:r>
              <a:rPr lang="en-US" sz="2700" u="sng" dirty="0"/>
              <a:t>Networks and Packet Path 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7B7CDF-4F39-6097-D87A-89D725D41A6D}"/>
              </a:ext>
            </a:extLst>
          </p:cNvPr>
          <p:cNvSpPr txBox="1"/>
          <p:nvPr/>
        </p:nvSpPr>
        <p:spPr>
          <a:xfrm>
            <a:off x="838200" y="4253983"/>
            <a:ext cx="8289758" cy="1225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latin typeface="Aptos"/>
              </a:defRPr>
            </a:pPr>
            <a:r>
              <a:rPr lang="en-IN" sz="1900" dirty="0"/>
              <a:t>Packet path: PC → Switch0 → R1 → Serial Link → R2 → Switch1 → Server</a:t>
            </a:r>
          </a:p>
          <a:p>
            <a:pPr>
              <a:spcAft>
                <a:spcPts val="1000"/>
              </a:spcAft>
              <a:defRPr sz="1900">
                <a:latin typeface="Aptos"/>
              </a:defRPr>
            </a:pPr>
            <a:r>
              <a:rPr lang="en-IN" sz="1900" dirty="0"/>
              <a:t>Client gateway: 192.168.1.5</a:t>
            </a:r>
          </a:p>
          <a:p>
            <a:pPr>
              <a:spcAft>
                <a:spcPts val="1000"/>
              </a:spcAft>
              <a:defRPr sz="1900">
                <a:latin typeface="Aptos"/>
              </a:defRPr>
            </a:pPr>
            <a:r>
              <a:rPr lang="en-IN" sz="1900" dirty="0"/>
              <a:t>Bank-server gateway: 192.168.3.2</a:t>
            </a:r>
          </a:p>
        </p:txBody>
      </p:sp>
    </p:spTree>
    <p:extLst>
      <p:ext uri="{BB962C8B-B14F-4D97-AF65-F5344CB8AC3E}">
        <p14:creationId xmlns:p14="http://schemas.microsoft.com/office/powerpoint/2010/main" val="28987590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5088" y="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3353675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E465F"/>
                </a:solidFill>
                <a:latin typeface="Aptos"/>
              </a:defRPr>
            </a:pPr>
            <a:r>
              <a:rPr lang="en-IN" dirty="0"/>
              <a:t>    </a:t>
            </a:r>
            <a:r>
              <a:rPr u="sng" dirty="0"/>
              <a:t>Connectivity Test</a:t>
            </a:r>
            <a:r>
              <a:rPr lang="en-IN" u="sng" dirty="0"/>
              <a:t> :</a:t>
            </a:r>
            <a:endParaRPr u="sng" dirty="0"/>
          </a:p>
        </p:txBody>
      </p:sp>
      <p:sp>
        <p:nvSpPr>
          <p:cNvPr id="4" name="TextBox 3"/>
          <p:cNvSpPr txBox="1"/>
          <p:nvPr/>
        </p:nvSpPr>
        <p:spPr>
          <a:xfrm>
            <a:off x="910467" y="1787991"/>
            <a:ext cx="6591546" cy="2652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End-to-end test: Client 1 → Bank Server</a:t>
            </a:r>
          </a:p>
          <a:p>
            <a:pPr>
              <a:spcAft>
                <a:spcPts val="1000"/>
              </a:spcAft>
              <a:defRPr sz="1900"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Command: ping 192.168.3.1</a:t>
            </a:r>
          </a:p>
          <a:p>
            <a:pPr>
              <a:spcAft>
                <a:spcPts val="1000"/>
              </a:spcAft>
              <a:defRPr sz="1900"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 ICMP replies confirm routed IP connectivity.</a:t>
            </a:r>
          </a:p>
          <a:p>
            <a:pPr>
              <a:spcAft>
                <a:spcPts val="1000"/>
              </a:spcAft>
              <a:defRPr sz="1900"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Packet Tracer Simulation Mode can be used to observe the packet path.</a:t>
            </a:r>
          </a:p>
          <a:p>
            <a:pPr>
              <a:spcAft>
                <a:spcPts val="1000"/>
              </a:spcAft>
              <a:defRPr sz="1900"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Recommended evidence: include screenshots from the actual .pkt file in the final submission.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-141585" y="4917479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E465F"/>
                </a:solidFill>
              </a:defRPr>
            </a:pPr>
            <a:r>
              <a:rPr dirty="0"/>
              <a:t>Client 1 (192.168.1.1)  →  Bank Server (192.168.3.1)</a:t>
            </a:r>
          </a:p>
        </p:txBody>
      </p:sp>
      <p:pic>
        <p:nvPicPr>
          <p:cNvPr id="8" name="Picture 7" descr="STUDENTS' PORTAL / Website">
            <a:extLst>
              <a:ext uri="{FF2B5EF4-FFF2-40B4-BE49-F238E27FC236}">
                <a16:creationId xmlns:a16="http://schemas.microsoft.com/office/drawing/2014/main" id="{F5914ABF-F8D9-8D36-E1A8-A7BEC15073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8308" y="195175"/>
            <a:ext cx="786338" cy="786338"/>
          </a:xfrm>
          <a:prstGeom prst="ellipse">
            <a:avLst/>
          </a:prstGeom>
          <a:ln w="63500" cap="rnd">
            <a:solidFill>
              <a:schemeClr val="bg2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EEA5BF8-5891-CC79-F2AA-9A7A521754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8164" y="1683819"/>
            <a:ext cx="3657917" cy="29949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592" y="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1000"/>
              </a:spcAft>
              <a:defRPr sz="2400">
                <a:latin typeface="Aptos"/>
              </a:defRPr>
            </a:pPr>
            <a:r>
              <a:rPr lang="en-IN" dirty="0"/>
              <a:t>Original data  = 1101011011</a:t>
            </a:r>
          </a:p>
          <a:p>
            <a:pPr>
              <a:spcAft>
                <a:spcPts val="1000"/>
              </a:spcAft>
              <a:defRPr sz="2400">
                <a:latin typeface="Aptos"/>
              </a:defRPr>
            </a:pPr>
            <a:r>
              <a:rPr lang="en-IN" dirty="0"/>
              <a:t>CRC           = 1110</a:t>
            </a:r>
          </a:p>
          <a:p>
            <a:pPr>
              <a:spcAft>
                <a:spcPts val="1000"/>
              </a:spcAft>
              <a:defRPr sz="2400">
                <a:latin typeface="Aptos"/>
              </a:defRPr>
            </a:pPr>
            <a:r>
              <a:rPr lang="en-IN" dirty="0"/>
              <a:t>Transmitted frame = 11010110111110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254352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E465F"/>
                </a:solidFill>
                <a:latin typeface="Aptos"/>
              </a:defRPr>
            </a:pPr>
            <a:r>
              <a:rPr lang="en-IN" dirty="0"/>
              <a:t>    </a:t>
            </a:r>
            <a:r>
              <a:rPr u="sng" dirty="0"/>
              <a:t>CRC Calculation</a:t>
            </a:r>
            <a:r>
              <a:rPr lang="en-IN" u="sng" dirty="0"/>
              <a:t> :</a:t>
            </a:r>
            <a:endParaRPr u="sng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143000"/>
          <a:ext cx="475488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>
                        <a:defRPr sz="1600" b="1">
                          <a:latin typeface="Aptos"/>
                        </a:defRPr>
                      </a:pPr>
                      <a:r>
                        <a:rPr dirty="0"/>
                        <a:t>Parameter</a:t>
                      </a:r>
                    </a:p>
                  </a:txBody>
                  <a:tcPr marL="45720" marR="45720">
                    <a:solidFill>
                      <a:srgbClr val="BEDC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Aptos"/>
                        </a:defRPr>
                      </a:pPr>
                      <a:r>
                        <a:rPr dirty="0"/>
                        <a:t>Value</a:t>
                      </a:r>
                    </a:p>
                  </a:txBody>
                  <a:tcPr marL="45720" marR="45720">
                    <a:solidFill>
                      <a:srgbClr val="BEDC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600">
                          <a:latin typeface="Aptos"/>
                        </a:defRPr>
                      </a:pPr>
                      <a:r>
                        <a:rPr dirty="0"/>
                        <a:t>Data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latin typeface="Aptos"/>
                        </a:defRPr>
                      </a:pPr>
                      <a:r>
                        <a:rPr dirty="0"/>
                        <a:t>1101011011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600">
                          <a:latin typeface="Aptos"/>
                        </a:defRPr>
                      </a:pPr>
                      <a:r>
                        <a:rPr dirty="0"/>
                        <a:t>Generator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latin typeface="Aptos"/>
                        </a:defRPr>
                      </a:pPr>
                      <a:r>
                        <a:rPr dirty="0"/>
                        <a:t>10011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600">
                          <a:latin typeface="Aptos"/>
                        </a:defRPr>
                      </a:pPr>
                      <a:r>
                        <a:rPr dirty="0"/>
                        <a:t>Generator degree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latin typeface="Aptos"/>
                        </a:defRPr>
                      </a:pPr>
                      <a:r>
                        <a:rPr dirty="0"/>
                        <a:t>4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600">
                          <a:latin typeface="Aptos"/>
                        </a:defRPr>
                      </a:pPr>
                      <a:r>
                        <a:rPr dirty="0"/>
                        <a:t>Zeros appended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latin typeface="Aptos"/>
                        </a:defRPr>
                      </a:pPr>
                      <a:r>
                        <a:rPr dirty="0"/>
                        <a:t>4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600">
                          <a:latin typeface="Aptos"/>
                        </a:defRPr>
                      </a:pPr>
                      <a:r>
                        <a:rPr dirty="0"/>
                        <a:t>Padded data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latin typeface="Aptos"/>
                        </a:defRPr>
                      </a:pPr>
                      <a:r>
                        <a:rPr dirty="0"/>
                        <a:t>11010110110000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600">
                          <a:latin typeface="Aptos"/>
                        </a:defRPr>
                      </a:pPr>
                      <a:r>
                        <a:rPr dirty="0"/>
                        <a:t>CRC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latin typeface="Aptos"/>
                        </a:defRPr>
                      </a:pPr>
                      <a:r>
                        <a:rPr dirty="0"/>
                        <a:t>1110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0" y="1143000"/>
            <a:ext cx="2922595" cy="181588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900" b="1"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Modulo-2 (XOR) division:</a:t>
            </a:r>
          </a:p>
          <a:p>
            <a:pPr>
              <a:spcAft>
                <a:spcPts val="1200"/>
              </a:spcAft>
              <a:defRPr sz="1900" b="0">
                <a:latin typeface="Courier New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11010110110000 ÷ 10011</a:t>
            </a:r>
          </a:p>
          <a:p>
            <a:pPr>
              <a:spcAft>
                <a:spcPts val="1200"/>
              </a:spcAft>
              <a:defRPr sz="1900" b="1">
                <a:latin typeface="Courier New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Remainder = 1110</a:t>
            </a:r>
          </a:p>
          <a:p>
            <a:pPr>
              <a:spcAft>
                <a:spcPts val="1200"/>
              </a:spcAft>
              <a:defRPr sz="2500" b="1">
                <a:latin typeface="Courier New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CRC = 1110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FE3DA4-113B-DB9B-B842-13D6981EE38C}"/>
              </a:ext>
            </a:extLst>
          </p:cNvPr>
          <p:cNvSpPr txBox="1"/>
          <p:nvPr/>
        </p:nvSpPr>
        <p:spPr>
          <a:xfrm>
            <a:off x="6400800" y="3899119"/>
            <a:ext cx="5288280" cy="16773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000"/>
              </a:spcAft>
              <a:defRPr sz="2400">
                <a:latin typeface="Aptos"/>
              </a:defRPr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Original data  = 1101011011</a:t>
            </a:r>
          </a:p>
          <a:p>
            <a:pPr>
              <a:spcAft>
                <a:spcPts val="1000"/>
              </a:spcAft>
              <a:defRPr sz="2400">
                <a:latin typeface="Aptos"/>
              </a:defRPr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CRC           = 1110</a:t>
            </a:r>
          </a:p>
          <a:p>
            <a:pPr>
              <a:spcAft>
                <a:spcPts val="1000"/>
              </a:spcAft>
              <a:defRPr sz="2400">
                <a:latin typeface="Aptos"/>
              </a:defRPr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Transmitted frame = 11010110111110</a:t>
            </a:r>
          </a:p>
          <a:p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94774B-BDEF-309A-90A2-4BDE9E4E24BD}"/>
              </a:ext>
            </a:extLst>
          </p:cNvPr>
          <p:cNvSpPr txBox="1"/>
          <p:nvPr/>
        </p:nvSpPr>
        <p:spPr>
          <a:xfrm>
            <a:off x="6386170" y="3288512"/>
            <a:ext cx="34231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Transmitted Frame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1D0A0B-1C0E-1BDC-7CA8-F86F760CBE59}"/>
              </a:ext>
            </a:extLst>
          </p:cNvPr>
          <p:cNvSpPr txBox="1"/>
          <p:nvPr/>
        </p:nvSpPr>
        <p:spPr>
          <a:xfrm>
            <a:off x="6187440" y="5508729"/>
            <a:ext cx="5486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1101011011  +  1110  =  11010110111110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B2F647E-6248-1203-6D38-DFEB004DCF8B}"/>
              </a:ext>
            </a:extLst>
          </p:cNvPr>
          <p:cNvSpPr txBox="1"/>
          <p:nvPr/>
        </p:nvSpPr>
        <p:spPr>
          <a:xfrm>
            <a:off x="1008184" y="929295"/>
            <a:ext cx="9214338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E465F"/>
                </a:solidFill>
                <a:latin typeface="Aptos"/>
              </a:defRPr>
            </a:pPr>
            <a:r>
              <a:rPr lang="en-US" sz="2700" u="sng" dirty="0"/>
              <a:t>Receiver Verification – Correct Frame 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429192-99DF-9496-8752-70A84C9C414D}"/>
              </a:ext>
            </a:extLst>
          </p:cNvPr>
          <p:cNvSpPr txBox="1"/>
          <p:nvPr/>
        </p:nvSpPr>
        <p:spPr>
          <a:xfrm>
            <a:off x="1008184" y="2057189"/>
            <a:ext cx="7502770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latin typeface="Aptos"/>
              </a:defRPr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Received frame = 11010110111110</a:t>
            </a:r>
          </a:p>
          <a:p>
            <a:pPr>
              <a:spcAft>
                <a:spcPts val="1000"/>
              </a:spcAft>
              <a:defRPr sz="2000">
                <a:latin typeface="Aptos"/>
              </a:defRPr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Generator = 10011</a:t>
            </a:r>
          </a:p>
          <a:p>
            <a:pPr>
              <a:spcAft>
                <a:spcPts val="1000"/>
              </a:spcAft>
              <a:defRPr sz="2000">
                <a:latin typeface="Aptos"/>
              </a:defRPr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Receiver divides the complete frame by the same generator.</a:t>
            </a:r>
          </a:p>
          <a:p>
            <a:pPr>
              <a:spcAft>
                <a:spcPts val="1000"/>
              </a:spcAft>
              <a:defRPr sz="2000">
                <a:latin typeface="Aptos"/>
              </a:defRPr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CRC remainder = 0000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1CE465-8C16-44CB-641A-5610739B5359}"/>
              </a:ext>
            </a:extLst>
          </p:cNvPr>
          <p:cNvSpPr txBox="1"/>
          <p:nvPr/>
        </p:nvSpPr>
        <p:spPr>
          <a:xfrm>
            <a:off x="2323061" y="4497644"/>
            <a:ext cx="702212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E6446"/>
                </a:solidFill>
              </a:defRPr>
            </a:pPr>
            <a:r>
              <a:rPr lang="en-IN" sz="2200" dirty="0"/>
              <a:t>0000  →  NO ERROR DETECTED  →  FRAME ACCEPTED</a:t>
            </a:r>
          </a:p>
        </p:txBody>
      </p:sp>
      <p:pic>
        <p:nvPicPr>
          <p:cNvPr id="15" name="Picture 14" descr="STUDENTS' PORTAL / Website">
            <a:extLst>
              <a:ext uri="{FF2B5EF4-FFF2-40B4-BE49-F238E27FC236}">
                <a16:creationId xmlns:a16="http://schemas.microsoft.com/office/drawing/2014/main" id="{909F0220-6389-0F17-406A-FE83E903BD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8308" y="195175"/>
            <a:ext cx="786338" cy="786338"/>
          </a:xfrm>
          <a:prstGeom prst="ellipse">
            <a:avLst/>
          </a:prstGeom>
          <a:ln w="63500" cap="rnd">
            <a:solidFill>
              <a:schemeClr val="bg2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5054135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D2CE1F6-9B8F-F33A-ECF8-DA1771844569}"/>
              </a:ext>
            </a:extLst>
          </p:cNvPr>
          <p:cNvSpPr txBox="1"/>
          <p:nvPr/>
        </p:nvSpPr>
        <p:spPr>
          <a:xfrm>
            <a:off x="783555" y="742546"/>
            <a:ext cx="60960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E465F"/>
                </a:solidFill>
                <a:latin typeface="Aptos"/>
              </a:defRPr>
            </a:pPr>
            <a:r>
              <a:rPr lang="en-IN" sz="2700" dirty="0"/>
              <a:t>  </a:t>
            </a:r>
            <a:r>
              <a:rPr lang="en-IN" sz="2700" u="sng" dirty="0"/>
              <a:t>Acceptance / Rejection Rule :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6DFC2F9-318D-AAAE-2CB5-A793BA2E94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4475322"/>
              </p:ext>
            </p:extLst>
          </p:nvPr>
        </p:nvGraphicFramePr>
        <p:xfrm>
          <a:off x="929640" y="1708394"/>
          <a:ext cx="103327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4240">
                  <a:extLst>
                    <a:ext uri="{9D8B030D-6E8A-4147-A177-3AD203B41FA5}">
                      <a16:colId xmlns:a16="http://schemas.microsoft.com/office/drawing/2014/main" val="3518546380"/>
                    </a:ext>
                  </a:extLst>
                </a:gridCol>
                <a:gridCol w="3444240">
                  <a:extLst>
                    <a:ext uri="{9D8B030D-6E8A-4147-A177-3AD203B41FA5}">
                      <a16:colId xmlns:a16="http://schemas.microsoft.com/office/drawing/2014/main" val="1801374515"/>
                    </a:ext>
                  </a:extLst>
                </a:gridCol>
                <a:gridCol w="3444240">
                  <a:extLst>
                    <a:ext uri="{9D8B030D-6E8A-4147-A177-3AD203B41FA5}">
                      <a16:colId xmlns:a16="http://schemas.microsoft.com/office/drawing/2014/main" val="2982715035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>
                        <a:defRPr sz="1900" b="1">
                          <a:latin typeface="Aptos"/>
                        </a:defRPr>
                      </a:pPr>
                      <a:r>
                        <a:rPr dirty="0"/>
                        <a:t>CRC remainder</a:t>
                      </a:r>
                    </a:p>
                  </a:txBody>
                  <a:tcPr marL="45720" marR="45720">
                    <a:solidFill>
                      <a:srgbClr val="BEDC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latin typeface="Aptos"/>
                        </a:defRPr>
                      </a:pPr>
                      <a:r>
                        <a:rPr dirty="0"/>
                        <a:t>Meaning</a:t>
                      </a:r>
                    </a:p>
                  </a:txBody>
                  <a:tcPr marL="45720" marR="45720">
                    <a:solidFill>
                      <a:srgbClr val="BEDC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latin typeface="Aptos"/>
                        </a:defRPr>
                      </a:pPr>
                      <a:r>
                        <a:rPr dirty="0"/>
                        <a:t>Decision</a:t>
                      </a:r>
                    </a:p>
                  </a:txBody>
                  <a:tcPr marL="45720" marR="45720">
                    <a:solidFill>
                      <a:srgbClr val="BEDC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6285484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>
                        <a:defRPr sz="1900">
                          <a:latin typeface="Aptos"/>
                        </a:defRPr>
                      </a:pPr>
                      <a:r>
                        <a:rPr dirty="0"/>
                        <a:t>0000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>
                          <a:latin typeface="Aptos"/>
                        </a:defRPr>
                      </a:pPr>
                      <a:r>
                        <a:rPr dirty="0"/>
                        <a:t>No error detected by CRC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>
                          <a:latin typeface="Aptos"/>
                        </a:defRPr>
                      </a:pPr>
                      <a:r>
                        <a:rPr dirty="0"/>
                        <a:t>ACCEPT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686973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>
                        <a:defRPr sz="1900">
                          <a:latin typeface="Aptos"/>
                        </a:defRPr>
                      </a:pPr>
                      <a:r>
                        <a:rPr dirty="0"/>
                        <a:t>Non-zero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>
                          <a:latin typeface="Aptos"/>
                        </a:defRPr>
                      </a:pPr>
                      <a:r>
                        <a:rPr dirty="0"/>
                        <a:t>Error detected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>
                          <a:latin typeface="Aptos"/>
                        </a:defRPr>
                      </a:pPr>
                      <a:r>
                        <a:rPr dirty="0"/>
                        <a:t>REJECT / retransmit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98537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A390BA4-BB1F-2DE1-7014-51F07055A453}"/>
              </a:ext>
            </a:extLst>
          </p:cNvPr>
          <p:cNvSpPr txBox="1"/>
          <p:nvPr/>
        </p:nvSpPr>
        <p:spPr>
          <a:xfrm>
            <a:off x="929640" y="4181386"/>
            <a:ext cx="7299960" cy="1179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latin typeface="Aptos"/>
              </a:defRPr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CRC is an error-detection mechanism.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latin typeface="Aptos"/>
              </a:defRPr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ARQ/retransmission can provide recovery after rejection.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latin typeface="Aptos"/>
              </a:defRPr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CRC does not itself correct the corrupted bit.</a:t>
            </a:r>
          </a:p>
        </p:txBody>
      </p:sp>
      <p:pic>
        <p:nvPicPr>
          <p:cNvPr id="8" name="Picture 7" descr="STUDENTS' PORTAL / Website">
            <a:extLst>
              <a:ext uri="{FF2B5EF4-FFF2-40B4-BE49-F238E27FC236}">
                <a16:creationId xmlns:a16="http://schemas.microsoft.com/office/drawing/2014/main" id="{304BF946-FA82-2A13-2443-CCF5BF0934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8308" y="195175"/>
            <a:ext cx="786338" cy="786338"/>
          </a:xfrm>
          <a:prstGeom prst="ellipse">
            <a:avLst/>
          </a:prstGeom>
          <a:ln w="63500" cap="rnd">
            <a:solidFill>
              <a:schemeClr val="bg2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34813302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3AC572-3D46-6C6D-06C8-9F4E618D8F52}"/>
              </a:ext>
            </a:extLst>
          </p:cNvPr>
          <p:cNvSpPr txBox="1"/>
          <p:nvPr/>
        </p:nvSpPr>
        <p:spPr>
          <a:xfrm>
            <a:off x="750277" y="531531"/>
            <a:ext cx="60960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E465F"/>
                </a:solidFill>
                <a:latin typeface="Aptos"/>
              </a:defRPr>
            </a:pPr>
            <a:r>
              <a:rPr lang="en-IN" sz="2700" u="sng" dirty="0"/>
              <a:t>Results :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6CEA508-8648-6C14-ACA5-687503AFED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5754015"/>
              </p:ext>
            </p:extLst>
          </p:nvPr>
        </p:nvGraphicFramePr>
        <p:xfrm>
          <a:off x="750277" y="1520825"/>
          <a:ext cx="106984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>
                  <a:extLst>
                    <a:ext uri="{9D8B030D-6E8A-4147-A177-3AD203B41FA5}">
                      <a16:colId xmlns:a16="http://schemas.microsoft.com/office/drawing/2014/main" val="11221387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1451419189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1527517890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>
                        <a:defRPr sz="1700" b="1">
                          <a:latin typeface="Aptos"/>
                        </a:defRPr>
                      </a:pPr>
                      <a:r>
                        <a:rPr dirty="0"/>
                        <a:t>Test</a:t>
                      </a:r>
                    </a:p>
                  </a:txBody>
                  <a:tcPr marL="45720" marR="45720">
                    <a:solidFill>
                      <a:srgbClr val="BEDC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latin typeface="Aptos"/>
                        </a:defRPr>
                      </a:pPr>
                      <a:r>
                        <a:rPr dirty="0"/>
                        <a:t>CRC result</a:t>
                      </a:r>
                    </a:p>
                  </a:txBody>
                  <a:tcPr marL="45720" marR="45720">
                    <a:solidFill>
                      <a:srgbClr val="BEDC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latin typeface="Aptos"/>
                        </a:defRPr>
                      </a:pPr>
                      <a:r>
                        <a:rPr dirty="0"/>
                        <a:t>Decision</a:t>
                      </a:r>
                    </a:p>
                  </a:txBody>
                  <a:tcPr marL="45720" marR="45720">
                    <a:solidFill>
                      <a:srgbClr val="BEDC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447669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>
                        <a:defRPr sz="1700">
                          <a:latin typeface="Aptos"/>
                        </a:defRPr>
                      </a:pPr>
                      <a:r>
                        <a:rPr dirty="0"/>
                        <a:t>Correct frame: 11010110111110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latin typeface="Aptos"/>
                        </a:defRPr>
                      </a:pPr>
                      <a:r>
                        <a:rPr dirty="0"/>
                        <a:t>0000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latin typeface="Aptos"/>
                        </a:defRPr>
                      </a:pPr>
                      <a:r>
                        <a:rPr dirty="0"/>
                        <a:t>ACCEPT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6665405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>
                        <a:defRPr sz="1700">
                          <a:latin typeface="Aptos"/>
                        </a:defRPr>
                      </a:pPr>
                      <a:r>
                        <a:rPr dirty="0"/>
                        <a:t>Corrupted frame: 01010110111110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latin typeface="Aptos"/>
                        </a:defRPr>
                      </a:pPr>
                      <a:r>
                        <a:rPr dirty="0"/>
                        <a:t>0100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latin typeface="Aptos"/>
                        </a:defRPr>
                      </a:pPr>
                      <a:r>
                        <a:rPr dirty="0"/>
                        <a:t>REJECT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596169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ED385C4-9BA5-6A05-5FE5-AD935314C6B3}"/>
              </a:ext>
            </a:extLst>
          </p:cNvPr>
          <p:cNvSpPr txBox="1"/>
          <p:nvPr/>
        </p:nvSpPr>
        <p:spPr>
          <a:xfrm>
            <a:off x="750277" y="4212805"/>
            <a:ext cx="9870831" cy="1179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latin typeface="Aptos"/>
              </a:defRPr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Packet Tracer topology provides the client-to-server communication path.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latin typeface="Aptos"/>
              </a:defRPr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 ICMP communication demonstrates end-to-end IP connectivity.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latin typeface="Aptos"/>
              </a:defRPr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CRC calculation and receiver verification demonstrate the requested error-detection logic.</a:t>
            </a:r>
          </a:p>
        </p:txBody>
      </p:sp>
      <p:pic>
        <p:nvPicPr>
          <p:cNvPr id="8" name="Picture 7" descr="STUDENTS' PORTAL / Website">
            <a:extLst>
              <a:ext uri="{FF2B5EF4-FFF2-40B4-BE49-F238E27FC236}">
                <a16:creationId xmlns:a16="http://schemas.microsoft.com/office/drawing/2014/main" id="{0614C361-761D-3AEF-36CD-9D68E83738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8308" y="195175"/>
            <a:ext cx="786338" cy="786338"/>
          </a:xfrm>
          <a:prstGeom prst="ellipse">
            <a:avLst/>
          </a:prstGeom>
          <a:ln w="63500" cap="rnd">
            <a:solidFill>
              <a:schemeClr val="bg2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3861622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93BC3A3-A008-3185-5A27-E5D9F54E4994}"/>
              </a:ext>
            </a:extLst>
          </p:cNvPr>
          <p:cNvSpPr txBox="1"/>
          <p:nvPr/>
        </p:nvSpPr>
        <p:spPr>
          <a:xfrm>
            <a:off x="754058" y="399173"/>
            <a:ext cx="60960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E465F"/>
                </a:solidFill>
                <a:latin typeface="Aptos"/>
              </a:defRPr>
            </a:pPr>
            <a:r>
              <a:rPr lang="en-IN" sz="2700" dirty="0"/>
              <a:t> </a:t>
            </a:r>
            <a:r>
              <a:rPr lang="en-IN" sz="2700" u="sng" dirty="0"/>
              <a:t>Limitations 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18AE8E-753D-60B0-B237-25EA36C974CD}"/>
              </a:ext>
            </a:extLst>
          </p:cNvPr>
          <p:cNvSpPr txBox="1"/>
          <p:nvPr/>
        </p:nvSpPr>
        <p:spPr>
          <a:xfrm>
            <a:off x="891709" y="1072428"/>
            <a:ext cx="10761785" cy="1990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latin typeface="Aptos"/>
              </a:defRPr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Packet Tracer model, not a production banking architecture.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latin typeface="Aptos"/>
              </a:defRPr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CRC detects but does not correct errors.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latin typeface="Aptos"/>
              </a:defRPr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Encryption and authentication are not implemented in the supplied topology.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latin typeface="Aptos"/>
              </a:defRPr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ARQ/retransmission is described as the recovery mechanism, not implemented as a full application protocol.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latin typeface="Aptos"/>
              </a:defRPr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ICMP verifies connectivity; it is not a complete banking transaction application.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AF5238-6292-027F-7F54-1FD944AD66BF}"/>
              </a:ext>
            </a:extLst>
          </p:cNvPr>
          <p:cNvSpPr txBox="1"/>
          <p:nvPr/>
        </p:nvSpPr>
        <p:spPr>
          <a:xfrm>
            <a:off x="891709" y="3505139"/>
            <a:ext cx="60960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E465F"/>
                </a:solidFill>
                <a:latin typeface="Aptos"/>
              </a:defRPr>
            </a:pPr>
            <a:r>
              <a:rPr lang="en-IN" sz="2700" u="sng" dirty="0"/>
              <a:t>Future Scope 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1D1EE9-DA30-8245-1C89-BF2D31AA06B9}"/>
              </a:ext>
            </a:extLst>
          </p:cNvPr>
          <p:cNvSpPr txBox="1"/>
          <p:nvPr/>
        </p:nvSpPr>
        <p:spPr>
          <a:xfrm>
            <a:off x="855784" y="4178394"/>
            <a:ext cx="10480432" cy="23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latin typeface="Aptos"/>
              </a:defRPr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ARQ-based automatic retransmission.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latin typeface="Aptos"/>
              </a:defRPr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CRC with checksum and Hamming code.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latin typeface="Aptos"/>
              </a:defRPr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encryption and authentication.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latin typeface="Aptos"/>
              </a:defRPr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real-time banking functions such as balance inquiry and fund transfer.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latin typeface="Aptos"/>
              </a:defRPr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 delay, packet loss, bandwidth and error rates.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latin typeface="Aptos"/>
              </a:defRPr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Scale to multiple branches, redundant links and cloud infrastructure.</a:t>
            </a:r>
          </a:p>
        </p:txBody>
      </p:sp>
      <p:pic>
        <p:nvPicPr>
          <p:cNvPr id="14" name="Picture 13" descr="STUDENTS' PORTAL / Website">
            <a:extLst>
              <a:ext uri="{FF2B5EF4-FFF2-40B4-BE49-F238E27FC236}">
                <a16:creationId xmlns:a16="http://schemas.microsoft.com/office/drawing/2014/main" id="{7C85A5D8-F461-04AC-8815-EAC0F4BB62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8308" y="195175"/>
            <a:ext cx="786338" cy="786338"/>
          </a:xfrm>
          <a:prstGeom prst="ellipse">
            <a:avLst/>
          </a:prstGeom>
          <a:ln w="63500" cap="rnd">
            <a:solidFill>
              <a:schemeClr val="bg2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33586002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692DC4E-B9B9-41D0-121D-2F0490DB218C}"/>
              </a:ext>
            </a:extLst>
          </p:cNvPr>
          <p:cNvSpPr txBox="1"/>
          <p:nvPr/>
        </p:nvSpPr>
        <p:spPr>
          <a:xfrm>
            <a:off x="867507" y="836330"/>
            <a:ext cx="60960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E465F"/>
                </a:solidFill>
                <a:latin typeface="Aptos"/>
              </a:defRPr>
            </a:pPr>
            <a:r>
              <a:rPr lang="en-IN" sz="2700" dirty="0"/>
              <a:t> </a:t>
            </a:r>
            <a:r>
              <a:rPr lang="en-IN" sz="2700" u="sng" dirty="0"/>
              <a:t>Conclusion 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E37E3B-9983-C471-2407-2AAC5A75C322}"/>
              </a:ext>
            </a:extLst>
          </p:cNvPr>
          <p:cNvSpPr txBox="1"/>
          <p:nvPr/>
        </p:nvSpPr>
        <p:spPr>
          <a:xfrm>
            <a:off x="867506" y="1884987"/>
            <a:ext cx="9495693" cy="2564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700">
                <a:latin typeface="Aptos"/>
              </a:defRPr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client LAN and bank-server LAN communicate through two routers and a /30 serial link.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700">
                <a:latin typeface="Aptos"/>
              </a:defRPr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data 1101011011 with generator 10011, the CRC is 1110.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700">
                <a:latin typeface="Aptos"/>
              </a:defRPr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transmitted frame is 11010110111110.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700">
                <a:latin typeface="Aptos"/>
              </a:defRPr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receiver remainder of 0000 leads to acceptance.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700">
                <a:latin typeface="Aptos"/>
              </a:defRPr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non-zero remainder, such as 0100 in the demonstrated corrupted frame, leads to rejection.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700">
                <a:latin typeface="Aptos"/>
              </a:defRPr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ARQ, encryption and authentication can extend the model toward a more complete reliable banking system.</a:t>
            </a:r>
          </a:p>
        </p:txBody>
      </p:sp>
      <p:pic>
        <p:nvPicPr>
          <p:cNvPr id="7" name="Picture 6" descr="STUDENTS' PORTAL / Website">
            <a:extLst>
              <a:ext uri="{FF2B5EF4-FFF2-40B4-BE49-F238E27FC236}">
                <a16:creationId xmlns:a16="http://schemas.microsoft.com/office/drawing/2014/main" id="{A591D413-09C1-13D3-51C8-FF555CAE89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8308" y="195175"/>
            <a:ext cx="786338" cy="786338"/>
          </a:xfrm>
          <a:prstGeom prst="ellipse">
            <a:avLst/>
          </a:prstGeom>
          <a:ln w="63500" cap="rnd">
            <a:solidFill>
              <a:schemeClr val="bg2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27726057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02635E1-9FF8-14A6-54BC-8FBF6F8AA176}"/>
              </a:ext>
            </a:extLst>
          </p:cNvPr>
          <p:cNvSpPr txBox="1"/>
          <p:nvPr/>
        </p:nvSpPr>
        <p:spPr>
          <a:xfrm>
            <a:off x="918938" y="902131"/>
            <a:ext cx="60960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E465F"/>
                </a:solidFill>
                <a:latin typeface="Aptos"/>
              </a:defRPr>
            </a:pPr>
            <a:r>
              <a:rPr lang="en-IN" sz="2700" u="sng" dirty="0"/>
              <a:t>References: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3E71BD-371C-8CA7-C5AD-1E1B3813A90A}"/>
              </a:ext>
            </a:extLst>
          </p:cNvPr>
          <p:cNvSpPr txBox="1"/>
          <p:nvPr/>
        </p:nvSpPr>
        <p:spPr>
          <a:xfrm>
            <a:off x="998352" y="1973838"/>
            <a:ext cx="10714892" cy="2303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700">
                <a:latin typeface="Aptos"/>
              </a:defRPr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Cisco Networking Academy – Cisco Packet Tracer.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700">
                <a:latin typeface="Aptos"/>
              </a:defRPr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Forouzan, B. A. – Data Communications and Networking.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700">
                <a:latin typeface="Aptos"/>
              </a:defRPr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Kurose, J. F. &amp; Ross, K. W. – Computer Networking: A Top-Down Approach.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700">
                <a:latin typeface="Aptos"/>
              </a:defRPr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Peterson, L. L. &amp; Davie, B. S. – Computer Networks: A Systems Approach.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700">
                <a:latin typeface="Aptos"/>
              </a:defRPr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https://youtu.be/A9g6rTMblz4?si=OI3p8u3VZrWqdZy5 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700">
                <a:latin typeface="Aptos"/>
              </a:defRPr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https://youtu.be/wQGwfBS3gpk?si=nygHb2e37kOr_6Le</a:t>
            </a:r>
          </a:p>
        </p:txBody>
      </p:sp>
      <p:pic>
        <p:nvPicPr>
          <p:cNvPr id="9" name="Picture 8" descr="STUDENTS' PORTAL / Website">
            <a:extLst>
              <a:ext uri="{FF2B5EF4-FFF2-40B4-BE49-F238E27FC236}">
                <a16:creationId xmlns:a16="http://schemas.microsoft.com/office/drawing/2014/main" id="{BDF46010-375F-39CC-A9DA-59C9A02F86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8308" y="195175"/>
            <a:ext cx="786338" cy="786338"/>
          </a:xfrm>
          <a:prstGeom prst="ellipse">
            <a:avLst/>
          </a:prstGeom>
          <a:ln w="63500" cap="rnd">
            <a:solidFill>
              <a:schemeClr val="bg2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110366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1322</TotalTime>
  <Words>880</Words>
  <Application>Microsoft Office PowerPoint</Application>
  <PresentationFormat>Widescreen</PresentationFormat>
  <Paragraphs>186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Calibri Light</vt:lpstr>
      <vt:lpstr>Proxima Nova</vt:lpstr>
      <vt:lpstr>Proxima Nova Bold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Bhagyashree das</dc:creator>
  <cp:lastModifiedBy>Bhagyashree das</cp:lastModifiedBy>
  <cp:revision>4</cp:revision>
  <dcterms:created xsi:type="dcterms:W3CDTF">2026-09-25T06:06:54Z</dcterms:created>
  <dcterms:modified xsi:type="dcterms:W3CDTF">2026-09-26T06:52:48Z</dcterms:modified>
</cp:coreProperties>
</file>